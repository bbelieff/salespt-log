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오프닝. '졸업했다고 세일즈피티와의 인연이 끝나는 게 아니다. 오히려 업그레이드된 시스템을 계속 공유받는 시작점이다'로 분위기를 연다. 오늘 두 가지를 가져왔다 — (1) 경영일지앱, (2) 다 같이 7주 경영 챌린지. 20분 안에 앱 시연 + 챌린지 안내를 한다고 예고.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명분. 테슬라 비유로 '세일즈피티 = 계속 업그레이드되는 시스템'을 각인. 졸업생 입장에서 '나는 이제 졸업했으니 끝'이 아니라, 최신 시스템을 계속 받는 멤버라는 소속감을 강조. 마지막 카드(여러분이 R&amp;D)가 뒤의 동행멤버 버전·피드백 이야기로 이어지는 다리.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앱의 취지. 핵심 메시지: '기록이 아니라 경영'. 4대 지표(생산/컨택/미팅/계약)를 폰으로 가볍게 입력 → 자동 대시보드. 손으로 엑셀 정리하던 수고를 없앤다. 오른쪽 4개 카드를 짚으며 '이 네 가지만 보면 내 영업 상태가 다 보인다'고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앱이 어떻게 만들어졌나 — 비개발자 청중이니 기술 깊이 대신 '안심 포인트' 3가지로. (1) 데이터 주권: 내 구글시트가 DB라서 내 기록은 내가 소유. (2) 모바일=입력/PC=대시보드 역할 분리. (3) 한 번 입력하면 끝까지 자동 연동. '여러분은 숫자만 넣으세요, 나머지는 앱이 합니다.'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전환 슬라이드. 여기서 화면(연습기 구글시트 연동)으로 넘어가 라이브 시연. 동선: 컨택관리에서 4지표 입력(생산3/유입5/컨택진행2/미팅예약1) → 미팅 추가((주)한국마케팅) → 일정·계약에서 계약 확정(수임비 5,000,000) → 실무/수납에서 수납 기록 → 대시보드에서 퍼널·매출 변화 확인. 별도 '시연 시나리오 대본' 문서를 보면서 진행. 시간 부족하면 컨택→계약→대시보드만.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챌린지 운영 방법. (1) 동행멤버 전체 참가가 기본, 불참자만 따로 신청받음 → 참여를 디폴트로. (2) 경영일지앱을 7주(전반3+후반4) 동안 사용. (3) 참가자에게 새 전용 구글시트 링크를 오늘 지급. 여기서 '오늘 바로 시작'이라는 행동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졸업생 관점의 유익 4가지. (1) 수강생 버전으로 영업단을 철저히 관리. (2) 초심으로 돌아가 멘탈 재정비 — 동기끼리·멤버끼리 으쌰으쌰. (3) 함께하는 동력. (4) 실무자용 고도화 개발에 내 의견을 반영할 수 있다는 점이 가장 큰 당근. '여러분이 다음 버전의 공동 설계자'라는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세피팀 관점의 유익 3가지 — 솔직하게 공유해 신뢰를 얻는 슬라이드. (1) 졸업생 접점 강화. (2) 실적 모니터링으로 독려 + 후기 권유. (3) 개발 피드백 수용 — 현재 수강생 버전이지만 '동행멤버 버전(실무 관리)'을 기획 중. 하단 바로 다음 로드맵 슬라이드로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로드맵. 현재(수강생 버전) → 다음(동행멤버 버전: 실무 관리, 기존 플러그 수행영역 +α). 핵심 메시지: '이번 7주 챌린지에서 주신 피드백이 다음 버전을 만든다'. 졸업생을 단순 사용자가 아니라 공동 개발 파트너로 초대.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일정은 8기와 동일하게 운영. 전반전 6/12~7/2(3주) → 7/4 반기 대총회에서 중간점검 → 후반전 7/3~7/30(4주) → 8/1 8기 총회에서 시상식. 전반·후반 합쳐 7주. 중간점검(7/4)에서 분위기 다시 끌어올리고, 8/1 시상으로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시상 4부문: (1) 기능 마스터 — 앱을 가장 속속들이 잘 쓴 사람, (2) 굿아이디어상 — 좋은 제안자, (3) 최다 활동량, (4) 최대 매출. 매출 1등만 받는 게 아니라 '꾸준함·아이디어·활용도'까지 인정 → 누구에게나 기회가 있다는 점을 강조해 참여 동기를 넓힌다.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참가 안내 + 행동 유도. 참가비 2만원은 전액 시상식 재원 → '내가 낸 돈이 내 상으로 돌아온다'. 오른쪽 3스텝(시트 링크 받기 → 로그인 → 오늘부터 기록)으로 진입 장벽을 낮춘다. 현장에서 바로 링크를 나눠줄 수 있으면 가장 좋다.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'졸업은 끝이 아니라 시작' 메시지로 수미상관(1번 슬라이드와 호응). 7주 뒤 시상식에서 만나자는 약속으로 마무리하고, 질문/참가 신청으로 자연스럽게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-1920240"/>
            <a:ext cx="4937760" cy="4937760"/>
          </a:xfrm>
          <a:prstGeom prst="ellipse">
            <a:avLst/>
          </a:prstGeom>
          <a:solidFill>
            <a:srgbClr val="17304D"/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2834640"/>
            <a:ext cx="2743200" cy="2743200"/>
          </a:xfrm>
          <a:prstGeom prst="ellipse">
            <a:avLst/>
          </a:prstGeom>
          <a:solidFill>
            <a:srgbClr val="1F3E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세일즈피티 졸업생 총회 ·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졸업은 끝이 아니라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업그레이드의 시작입니다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경영일지앱  </a:t>
            </a:r>
            <a:pPr indent="0" marL="0">
              <a:buNone/>
            </a:pPr>
            <a:r>
              <a:rPr lang="en-US" sz="2200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</a:t>
            </a:r>
            <a:pPr indent="0" marL="0">
              <a:buNone/>
            </a:pPr>
            <a:r>
              <a:rPr lang="en-US" sz="22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 경영 챌린지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5029200"/>
            <a:ext cx="2926080" cy="0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663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폰으로 기록하면, 영업이 경영이 됩니다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· 명분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세일즈피티는 ‘테슬라’입니다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차를 산 뒤에도 소프트웨어가 알아서 계속 업데이트되는 테슬라처럼,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세일즈피티의 영업 시스템도 멈추지 않고 진화합니다.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39242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88920"/>
            <a:ext cx="3392424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3246120"/>
            <a:ext cx="640080" cy="64008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411480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OTA처럼 자동 진화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4663440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만들고 끝이 아니라,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쓰는 동안 계속 좋아집니다.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98264" y="2788920"/>
            <a:ext cx="339242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98264" y="2788920"/>
            <a:ext cx="3392424" cy="109728"/>
          </a:xfrm>
          <a:prstGeom prst="rect">
            <a:avLst/>
          </a:prstGeom>
          <a:solidFill>
            <a:srgbClr val="1AAE9F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9744" y="3246120"/>
            <a:ext cx="640080" cy="640080"/>
          </a:xfrm>
          <a:prstGeom prst="ellipse">
            <a:avLst/>
          </a:prstGeom>
          <a:solidFill>
            <a:srgbClr val="1AAE9F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09744" y="411480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 후에도 공유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09744" y="4663440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시스템을 졸업생에게도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열어 드립니다.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56448" y="2788920"/>
            <a:ext cx="339242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56448" y="2788920"/>
            <a:ext cx="3392424" cy="1097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20" name="Shape 18"/>
          <p:cNvSpPr/>
          <p:nvPr/>
        </p:nvSpPr>
        <p:spPr>
          <a:xfrm>
            <a:off x="8567928" y="3246120"/>
            <a:ext cx="640080" cy="640080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67928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67928" y="411480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곧 R&amp;D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67928" y="4663440"/>
            <a:ext cx="25694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쓰면서 준 피드백이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버전이 됩니다.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· 경영일지앱이란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영업을 ‘기록’이 아니라 ‘경영’으로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때 손으로 정리하던 영업 데이터,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앱이 대신합니다.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영업 끝에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몇 개만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폰에 찍으면,
그게 미팅·계약·수납으로 이어지고
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경영 대시보드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그려집니다.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937760"/>
            <a:ext cx="4754880" cy="1051560"/>
          </a:xfrm>
          <a:prstGeom prst="rect">
            <a:avLst/>
          </a:prstGeom>
          <a:solidFill>
            <a:srgbClr val="0E1B2C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9377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 </a:t>
            </a:r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영업이 어디서 새는지</a:t>
            </a:r>
            <a:pPr indent="0" marL="0">
              <a:buNone/>
            </a:pPr>
            <a:r>
              <a:rPr lang="en-US" sz="140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한눈에 보인다 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828800"/>
            <a:ext cx="257403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1828800"/>
            <a:ext cx="128016" cy="1965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48840"/>
            <a:ext cx="1933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00800" y="2880360"/>
            <a:ext cx="19339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가망 고객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4836" y="1828800"/>
            <a:ext cx="257403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74836" y="1828800"/>
            <a:ext cx="128016" cy="196596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15" name="Text 13"/>
          <p:cNvSpPr/>
          <p:nvPr/>
        </p:nvSpPr>
        <p:spPr>
          <a:xfrm>
            <a:off x="9340596" y="2148840"/>
            <a:ext cx="1933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40596" y="2880360"/>
            <a:ext cx="19339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연락·진행한 건수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4114800"/>
            <a:ext cx="257403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4114800"/>
            <a:ext cx="128016" cy="1965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434840"/>
            <a:ext cx="1933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00800" y="5166360"/>
            <a:ext cx="19339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잡고 진행한 미팅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74836" y="4114800"/>
            <a:ext cx="257403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74836" y="4114800"/>
            <a:ext cx="128016" cy="1965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9340596" y="4434840"/>
            <a:ext cx="19339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40596" y="5166360"/>
            <a:ext cx="19339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성사·수납까지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6172200"/>
            <a:ext cx="5513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지표 — 생산 · 컨택 · 미팅 · 계약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1AAE9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· 어떻게 만들어졌나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건 앱이, 쉬운 건 여러분이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3619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743200"/>
            <a:ext cx="777240" cy="77724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3703320"/>
            <a:ext cx="2538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데이터는 내 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4526280"/>
            <a:ext cx="2538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구글시트가 그대로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데이터베이스입니다.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앱이 사라져도 내 기록은 남습니다.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3504" y="2286000"/>
            <a:ext cx="33619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24984" y="2743200"/>
            <a:ext cx="777240" cy="777240"/>
          </a:xfrm>
          <a:prstGeom prst="ellipse">
            <a:avLst/>
          </a:prstGeom>
          <a:solidFill>
            <a:srgbClr val="1AAE9F"/>
          </a:solidFill>
          <a:ln/>
        </p:spPr>
      </p:sp>
      <p:sp>
        <p:nvSpPr>
          <p:cNvPr id="12" name="Text 10"/>
          <p:cNvSpPr/>
          <p:nvPr/>
        </p:nvSpPr>
        <p:spPr>
          <a:xfrm>
            <a:off x="4824984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24984" y="3703320"/>
            <a:ext cx="2538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모바일은 입력, PC는 대시보드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24984" y="4526280"/>
            <a:ext cx="2538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밖에선 폰으로 가볍게 입력,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사무실에선 PC로 한눈에 분석.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데이터, 다른 화면.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6928" y="2286000"/>
            <a:ext cx="3361944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8408" y="2743200"/>
            <a:ext cx="777240" cy="777240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7" name="Text 15"/>
          <p:cNvSpPr/>
          <p:nvPr/>
        </p:nvSpPr>
        <p:spPr>
          <a:xfrm>
            <a:off x="8598408" y="2743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98408" y="3703320"/>
            <a:ext cx="25389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자동 연동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98408" y="4526280"/>
            <a:ext cx="2538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입력하면 미팅·계약·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수납·대시보드까지 알아서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계산되고 연결됩니다.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DEMO · 지금 직접 보여드립니다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영업의 한바퀴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1554480" cy="1554480"/>
          </a:xfrm>
          <a:prstGeom prst="ellipse">
            <a:avLst/>
          </a:prstGeom>
          <a:solidFill>
            <a:srgbClr val="17304D"/>
          </a:solidFill>
          <a:ln w="31750">
            <a:solidFill>
              <a:srgbClr val="2D6C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영업 기록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2926080"/>
            <a:ext cx="784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5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978658" y="2926080"/>
            <a:ext cx="1554480" cy="1554480"/>
          </a:xfrm>
          <a:prstGeom prst="ellipse">
            <a:avLst/>
          </a:prstGeom>
          <a:solidFill>
            <a:srgbClr val="17304D"/>
          </a:solidFill>
          <a:ln w="317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8658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978658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약속 잡고 진행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33138" y="2926080"/>
            <a:ext cx="784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5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317236" y="2926080"/>
            <a:ext cx="1554480" cy="1554480"/>
          </a:xfrm>
          <a:prstGeom prst="ellipse">
            <a:avLst/>
          </a:prstGeom>
          <a:solidFill>
            <a:srgbClr val="17304D"/>
          </a:solidFill>
          <a:ln w="3175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17236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317236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수임비 입력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71716" y="2926080"/>
            <a:ext cx="784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5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655814" y="2926080"/>
            <a:ext cx="1554480" cy="1554480"/>
          </a:xfrm>
          <a:prstGeom prst="ellipse">
            <a:avLst/>
          </a:prstGeom>
          <a:solidFill>
            <a:srgbClr val="17304D"/>
          </a:solidFill>
          <a:ln w="31750">
            <a:solidFill>
              <a:srgbClr val="1AAE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55814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수납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655814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 들어온 기록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10294" y="2926080"/>
            <a:ext cx="7840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A55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9994392" y="2926080"/>
            <a:ext cx="1554480" cy="1554480"/>
          </a:xfrm>
          <a:prstGeom prst="ellipse">
            <a:avLst/>
          </a:prstGeom>
          <a:solidFill>
            <a:srgbClr val="17304D"/>
          </a:solidFill>
          <a:ln w="31750">
            <a:solidFill>
              <a:srgbClr val="F2B70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4392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994392" y="3767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결과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908792" cy="914400"/>
          </a:xfrm>
          <a:prstGeom prst="rect">
            <a:avLst/>
          </a:prstGeom>
          <a:solidFill>
            <a:srgbClr val="13284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12064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입력하면 </a:t>
            </a:r>
            <a:pPr algn="ctr" indent="0" marL="0">
              <a:buNone/>
            </a:pPr>
            <a:r>
              <a:rPr lang="en-US" sz="1600" b="1" i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 따라옵니다</a:t>
            </a:r>
            <a:pPr algn="ctr" indent="0" marL="0">
              <a:buNone/>
            </a:pPr>
            <a:r>
              <a:rPr lang="en-US" sz="160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—  따로 엑셀 정리할 필요가 없습니다.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FF6B5E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CHALLENGE · 경연 방법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같이, 7주 경영 챌린지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6194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5468112"/>
            <a:ext cx="3361944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834640"/>
            <a:ext cx="685800" cy="68580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74904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동행멤버 전체 참가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4343400"/>
            <a:ext cx="2538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동행멤버 모두가 함께 합니다.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불참하실 분만 따로 받습니다.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13504" y="2377440"/>
            <a:ext cx="336194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3504" y="5468112"/>
            <a:ext cx="3361944" cy="109728"/>
          </a:xfrm>
          <a:prstGeom prst="rect">
            <a:avLst/>
          </a:prstGeom>
          <a:solidFill>
            <a:srgbClr val="1AAE9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4984" y="2834640"/>
            <a:ext cx="685800" cy="685800"/>
          </a:xfrm>
          <a:prstGeom prst="ellipse">
            <a:avLst/>
          </a:prstGeom>
          <a:solidFill>
            <a:srgbClr val="1AAE9F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4984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24984" y="374904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경영일지앱 7주 사용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24984" y="4343400"/>
            <a:ext cx="2538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전반전 3주 + 후반전 4주,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매일의 영업을 앱에 기록합니다.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86928" y="2377440"/>
            <a:ext cx="336194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6928" y="5468112"/>
            <a:ext cx="3361944" cy="1097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8408" y="2834640"/>
            <a:ext cx="685800" cy="685800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8408" y="2834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98408" y="3749040"/>
            <a:ext cx="2538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구글시트 링크 지급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598408" y="4343400"/>
            <a:ext cx="2538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각자에게 전용 구글시트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링크를 새로 드립니다. 오늘부터.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BENEFIT ① · 졸업생에게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얻는 것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24865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94560"/>
            <a:ext cx="128016" cy="17830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87168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영업단의 철저한 관리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3063240"/>
            <a:ext cx="4517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 버전 그대로, 내 영업을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빈틈없이 관리합니다.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0216" y="2194560"/>
            <a:ext cx="524865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0216" y="2194560"/>
            <a:ext cx="128016" cy="1783080"/>
          </a:xfrm>
          <a:prstGeom prst="rect">
            <a:avLst/>
          </a:prstGeom>
          <a:solidFill>
            <a:srgbClr val="1AAE9F"/>
          </a:solidFill>
          <a:ln/>
        </p:spPr>
      </p:sp>
      <p:sp>
        <p:nvSpPr>
          <p:cNvPr id="11" name="Text 9"/>
          <p:cNvSpPr/>
          <p:nvPr/>
        </p:nvSpPr>
        <p:spPr>
          <a:xfrm>
            <a:off x="6711696" y="2487168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초심으로 멘탈 재정비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711696" y="3063240"/>
            <a:ext cx="4517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수강생이던 그 마음으로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한 번 끌어올립니다.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524865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251960"/>
            <a:ext cx="128016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544568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동기·멤버와 으쌰으쌰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51560" y="5120640"/>
            <a:ext cx="4517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혼자가 아니라 함께.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같이 뛰면 덜 지칩니다.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0216" y="4251960"/>
            <a:ext cx="524865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0216" y="4251960"/>
            <a:ext cx="128016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711696" y="4544568"/>
            <a:ext cx="4517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의견이 제품이 된다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711696" y="5120640"/>
            <a:ext cx="45171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실무자용 고도화에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의견이 반영됩니다.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1AAE9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BENEFIT ② · 세피팀에게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함께 얻는 것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3619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361944" cy="109728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834640"/>
            <a:ext cx="640080" cy="64008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3657600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졸업생 접점 강화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51560" y="4160520"/>
            <a:ext cx="2538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 후에도 끊기지 않고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이어지는 연결.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13504" y="2377440"/>
            <a:ext cx="33619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13504" y="2377440"/>
            <a:ext cx="3361944" cy="109728"/>
          </a:xfrm>
          <a:prstGeom prst="rect">
            <a:avLst/>
          </a:prstGeom>
          <a:solidFill>
            <a:srgbClr val="1AAE9F"/>
          </a:solidFill>
          <a:ln/>
        </p:spPr>
      </p:sp>
      <p:sp>
        <p:nvSpPr>
          <p:cNvPr id="13" name="Shape 11"/>
          <p:cNvSpPr/>
          <p:nvPr/>
        </p:nvSpPr>
        <p:spPr>
          <a:xfrm>
            <a:off x="4824984" y="2834640"/>
            <a:ext cx="640080" cy="640080"/>
          </a:xfrm>
          <a:prstGeom prst="ellipse">
            <a:avLst/>
          </a:prstGeom>
          <a:solidFill>
            <a:srgbClr val="1AAE9F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4984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24984" y="3657600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모니터링 → 독려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824984" y="4160520"/>
            <a:ext cx="2538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졸업생 실적을 함께 보며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응원하고 후기를 권유합니다.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6928" y="2377440"/>
            <a:ext cx="3361944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86928" y="2377440"/>
            <a:ext cx="3361944" cy="1097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8408" y="2834640"/>
            <a:ext cx="640080" cy="640080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8408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598408" y="3657600"/>
            <a:ext cx="25389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피드백 수용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598408" y="4160520"/>
            <a:ext cx="2538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업데이트에 대한 의견을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제품에 반영합니다.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5349240"/>
            <a:ext cx="10908792" cy="777240"/>
          </a:xfrm>
          <a:prstGeom prst="rect">
            <a:avLst/>
          </a:prstGeom>
          <a:solidFill>
            <a:srgbClr val="0E1B2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34924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수강생 버전, </a:t>
            </a:r>
            <a:pPr algn="ctr" indent="0" marL="0">
              <a:buNone/>
            </a:pPr>
            <a:r>
              <a:rPr lang="en-US" sz="1400" b="1" i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다음은 ‘동행멤버 버전’</a:t>
            </a:r>
            <a:pPr algn="ctr" indent="0" marL="0">
              <a:buNone/>
            </a:pPr>
            <a:r>
              <a:rPr lang="en-US" sz="140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실무 관리(기존 플러그 수행영역 +α)까지 확장 기획 중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 · 어떻게 만들어갈까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버전은 여러분이 만듭니다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4572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4572000" cy="6400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77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NOW · 수강생 버전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918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지표 기록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미팅·계약·수납 한바퀴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경영 대시보드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게이미피케이션(준비 중)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2377440"/>
            <a:ext cx="1005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355080" y="2377440"/>
            <a:ext cx="5193792" cy="3017520"/>
          </a:xfrm>
          <a:prstGeom prst="rect">
            <a:avLst/>
          </a:prstGeom>
          <a:solidFill>
            <a:srgbClr val="0E1B2C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2377440"/>
            <a:ext cx="5193792" cy="64008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377440"/>
            <a:ext cx="5193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1B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· 동행멤버 버전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3291840"/>
            <a:ext cx="43708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관리 강화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플러그 수행영역 + α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졸업생·실무자 워크플로우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의견을 반영해 설계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715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 챌린지 동안 주신 의견이 곧바로 다음 버전의 설계도가 됩니다.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SCHEDULE · 경영기간 (8기와 동일)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 일정 한눈에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10360152" cy="0"/>
          </a:xfrm>
          <a:prstGeom prst="line">
            <a:avLst/>
          </a:prstGeom>
          <a:noFill/>
          <a:ln w="38100">
            <a:solidFill>
              <a:srgbClr val="C7D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081528"/>
            <a:ext cx="237744" cy="237744"/>
          </a:xfrm>
          <a:prstGeom prst="ellipse">
            <a:avLst/>
          </a:prstGeom>
          <a:solidFill>
            <a:srgbClr val="2D6CD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52044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520440"/>
            <a:ext cx="109728" cy="1325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685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D6C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6/12 → 7/2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123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영업 기록 (3주)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46792" y="3081528"/>
            <a:ext cx="237744" cy="237744"/>
          </a:xfrm>
          <a:prstGeom prst="ellipse">
            <a:avLst/>
          </a:prstGeom>
          <a:solidFill>
            <a:srgbClr val="F2B70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31224" y="155448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31224" y="1554480"/>
            <a:ext cx="109728" cy="132588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5" name="Text 13"/>
          <p:cNvSpPr/>
          <p:nvPr/>
        </p:nvSpPr>
        <p:spPr>
          <a:xfrm>
            <a:off x="4323832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23832" y="2157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반기 대총회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323832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중간점검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18822" y="3081528"/>
            <a:ext cx="237744" cy="237744"/>
          </a:xfrm>
          <a:prstGeom prst="ellipse">
            <a:avLst/>
          </a:prstGeom>
          <a:solidFill>
            <a:srgbClr val="1AAE9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03254" y="352044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03254" y="3520440"/>
            <a:ext cx="109728" cy="1325880"/>
          </a:xfrm>
          <a:prstGeom prst="rect">
            <a:avLst/>
          </a:prstGeom>
          <a:solidFill>
            <a:srgbClr val="1AAE9F"/>
          </a:solidFill>
          <a:ln/>
        </p:spPr>
      </p:sp>
      <p:sp>
        <p:nvSpPr>
          <p:cNvPr id="21" name="Text 19"/>
          <p:cNvSpPr/>
          <p:nvPr/>
        </p:nvSpPr>
        <p:spPr>
          <a:xfrm>
            <a:off x="6395862" y="36850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AE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7/3 → 7/30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95862" y="4123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95862" y="4434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스퍼트 (4주)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155680" y="3081528"/>
            <a:ext cx="237744" cy="237744"/>
          </a:xfrm>
          <a:prstGeom prst="ellipse">
            <a:avLst/>
          </a:prstGeom>
          <a:solidFill>
            <a:srgbClr val="FF6B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79992" y="1554480"/>
            <a:ext cx="2468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79992" y="1554480"/>
            <a:ext cx="109728" cy="1325880"/>
          </a:xfrm>
          <a:prstGeom prst="rect">
            <a:avLst/>
          </a:prstGeom>
          <a:solidFill>
            <a:srgbClr val="FF6B5E"/>
          </a:solidFill>
          <a:ln/>
        </p:spPr>
      </p:sp>
      <p:sp>
        <p:nvSpPr>
          <p:cNvPr id="27" name="Text 25"/>
          <p:cNvSpPr/>
          <p:nvPr/>
        </p:nvSpPr>
        <p:spPr>
          <a:xfrm>
            <a:off x="9372600" y="17190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8/1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372600" y="21579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8기 총회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3726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시상식 🏆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AWARDS · 시상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부문, 누구에게나 기회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45287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2452878" cy="128016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7" name="Shape 5"/>
          <p:cNvSpPr/>
          <p:nvPr/>
        </p:nvSpPr>
        <p:spPr>
          <a:xfrm>
            <a:off x="1363599" y="2926080"/>
            <a:ext cx="1005840" cy="1005840"/>
          </a:xfrm>
          <a:prstGeom prst="ellipse">
            <a:avLst/>
          </a:prstGeom>
          <a:solidFill>
            <a:srgbClr val="2D6CDF"/>
          </a:solidFill>
          <a:ln/>
        </p:spPr>
      </p:sp>
      <p:sp>
        <p:nvSpPr>
          <p:cNvPr id="8" name="Text 6"/>
          <p:cNvSpPr/>
          <p:nvPr/>
        </p:nvSpPr>
        <p:spPr>
          <a:xfrm>
            <a:off x="1363599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2087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마스터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기능을 가장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속속들이 잘 쓴 사람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58718" y="2468880"/>
            <a:ext cx="245287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58718" y="2468880"/>
            <a:ext cx="2452878" cy="128016"/>
          </a:xfrm>
          <a:prstGeom prst="rect">
            <a:avLst/>
          </a:prstGeom>
          <a:solidFill>
            <a:srgbClr val="1AAE9F"/>
          </a:solidFill>
          <a:ln/>
        </p:spPr>
      </p:sp>
      <p:sp>
        <p:nvSpPr>
          <p:cNvPr id="13" name="Shape 11"/>
          <p:cNvSpPr/>
          <p:nvPr/>
        </p:nvSpPr>
        <p:spPr>
          <a:xfrm>
            <a:off x="4182237" y="2926080"/>
            <a:ext cx="1005840" cy="1005840"/>
          </a:xfrm>
          <a:prstGeom prst="ellipse">
            <a:avLst/>
          </a:prstGeom>
          <a:solidFill>
            <a:srgbClr val="1AAE9F"/>
          </a:solidFill>
          <a:ln/>
        </p:spPr>
      </p:sp>
      <p:sp>
        <p:nvSpPr>
          <p:cNvPr id="14" name="Text 12"/>
          <p:cNvSpPr/>
          <p:nvPr/>
        </p:nvSpPr>
        <p:spPr>
          <a:xfrm>
            <a:off x="4182237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41598" y="4160520"/>
            <a:ext cx="2087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굿아이디어상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41598" y="4663440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좋은 제안을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해주신 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7356" y="2468880"/>
            <a:ext cx="245287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7356" y="2468880"/>
            <a:ext cx="2452878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000875" y="2926080"/>
            <a:ext cx="1005840" cy="10058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000875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60236" y="4160520"/>
            <a:ext cx="2087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최다 활동량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60236" y="4663440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꾸준히 많이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기록한 사람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95994" y="2468880"/>
            <a:ext cx="245287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95994" y="2468880"/>
            <a:ext cx="2452878" cy="128016"/>
          </a:xfrm>
          <a:prstGeom prst="rect">
            <a:avLst/>
          </a:prstGeom>
          <a:solidFill>
            <a:srgbClr val="FF6B5E"/>
          </a:solidFill>
          <a:ln/>
        </p:spPr>
      </p:sp>
      <p:sp>
        <p:nvSpPr>
          <p:cNvPr id="25" name="Shape 23"/>
          <p:cNvSpPr/>
          <p:nvPr/>
        </p:nvSpPr>
        <p:spPr>
          <a:xfrm>
            <a:off x="9819513" y="2926080"/>
            <a:ext cx="1005840" cy="1005840"/>
          </a:xfrm>
          <a:prstGeom prst="ellipse">
            <a:avLst/>
          </a:prstGeom>
          <a:solidFill>
            <a:srgbClr val="FF6B5E"/>
          </a:solidFill>
          <a:ln/>
        </p:spPr>
      </p:sp>
      <p:sp>
        <p:nvSpPr>
          <p:cNvPr id="26" name="Text 24"/>
          <p:cNvSpPr/>
          <p:nvPr/>
        </p:nvSpPr>
        <p:spPr>
          <a:xfrm>
            <a:off x="9819513" y="29260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278874" y="4160520"/>
            <a:ext cx="20871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매출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78874" y="4663440"/>
            <a:ext cx="20871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내 매출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37744" cy="237744"/>
          </a:xfrm>
          <a:prstGeom prst="rect">
            <a:avLst/>
          </a:prstGeom>
          <a:solidFill>
            <a:srgbClr val="FF6B5E"/>
          </a:solidFill>
          <a:ln/>
        </p:spPr>
      </p:sp>
      <p:sp>
        <p:nvSpPr>
          <p:cNvPr id="3" name="Text 1"/>
          <p:cNvSpPr/>
          <p:nvPr/>
        </p:nvSpPr>
        <p:spPr>
          <a:xfrm>
            <a:off x="969264" y="530352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· 참가 안내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바로 시작합니다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120640" cy="3291840"/>
          </a:xfrm>
          <a:prstGeom prst="rect">
            <a:avLst/>
          </a:prstGeom>
          <a:solidFill>
            <a:srgbClr val="0E1B2C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788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2461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만원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1097280" y="4480560"/>
            <a:ext cx="4206240" cy="0"/>
          </a:xfrm>
          <a:prstGeom prst="line">
            <a:avLst/>
          </a:prstGeom>
          <a:noFill/>
          <a:ln w="12700">
            <a:solidFill>
              <a:srgbClr val="3A55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6634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전액 시상식 비용 재원으로 쓰입니다.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참가자가 만든 상, 참가자에게 돌아갑니다.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331720"/>
            <a:ext cx="52395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7960" y="2514600"/>
            <a:ext cx="594360" cy="594360"/>
          </a:xfrm>
          <a:prstGeom prst="ellipse">
            <a:avLst/>
          </a:prstGeom>
          <a:solidFill>
            <a:srgbClr val="2D6CDF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0" y="2496312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구글시트 링크 받기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0" y="286207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전용 시트를 오늘 지급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3474720"/>
            <a:ext cx="52395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3657600"/>
            <a:ext cx="594360" cy="594360"/>
          </a:xfrm>
          <a:prstGeom prst="ellipse">
            <a:avLst/>
          </a:prstGeom>
          <a:solidFill>
            <a:srgbClr val="1AAE9F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3657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0" y="3639312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앱에 로그인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0" y="400507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계정으로 바로 연결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617720"/>
            <a:ext cx="52395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37960" y="4800600"/>
            <a:ext cx="594360" cy="594360"/>
          </a:xfrm>
          <a:prstGeom prst="ellipse">
            <a:avLst/>
          </a:prstGeom>
          <a:solidFill>
            <a:srgbClr val="F2B705"/>
          </a:solidFill>
          <a:ln/>
          <a:effectLst>
            <a:outerShdw sx="100000" sy="100000" kx="0" ky="0" algn="bl" rotWithShape="0" blurRad="114300" dist="38100" dir="8100000">
              <a:srgbClr val="0E1B2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0" y="4782312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4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영업부터 기록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0" y="5148072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 챌린지 스타트!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17304D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389120"/>
            <a:ext cx="3840480" cy="3840480"/>
          </a:xfrm>
          <a:prstGeom prst="ellipse">
            <a:avLst/>
          </a:prstGeom>
          <a:solidFill>
            <a:srgbClr val="1F3E6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0116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B70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졸업은 끝이 아니라 시작입니다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265176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7주 뒤, 시상대에서 만나요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402336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7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기록하고, 함께 성장하고, 함께 진화합니다.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8311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경영일지앱 &amp; 7주 경영 챌린지 — 졸업생 총회</dc:title>
  <dc:subject>PptxGenJS Presentation</dc:subject>
  <dc:creator>세일즈피티</dc:creator>
  <cp:lastModifiedBy>세일즈피티</cp:lastModifiedBy>
  <cp:revision>1</cp:revision>
  <dcterms:created xsi:type="dcterms:W3CDTF">2026-06-04T09:43:46Z</dcterms:created>
  <dcterms:modified xsi:type="dcterms:W3CDTF">2026-06-04T09:43:46Z</dcterms:modified>
</cp:coreProperties>
</file>